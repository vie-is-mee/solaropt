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E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097280"/>
            <a:ext cx="3657600" cy="3108960"/>
          </a:xfrm>
          <a:prstGeom prst="ellipse">
            <a:avLst/>
          </a:prstGeom>
          <a:solidFill>
            <a:srgbClr val="FFF5D3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3657600" cy="1828800"/>
          </a:xfrm>
          <a:prstGeom prst="ellipse">
            <a:avLst/>
          </a:prstGeom>
          <a:solidFill>
            <a:srgbClr val="DCE9D6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landscape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4425696"/>
            <a:ext cx="12198096" cy="17922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315968"/>
            <a:ext cx="12188952" cy="1234440"/>
          </a:xfrm>
          <a:prstGeom prst="rect">
            <a:avLst/>
          </a:prstGeom>
          <a:solidFill>
            <a:srgbClr val="F2F7EC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7" name="Image 1" descr="/mnt/data/roof_clea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931920"/>
            <a:ext cx="5148072" cy="20391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66560" y="3017520"/>
            <a:ext cx="5394960" cy="868680"/>
          </a:xfrm>
          <a:prstGeom prst="rect">
            <a:avLst/>
          </a:prstGeom>
          <a:solidFill>
            <a:srgbClr val="F2F7EC">
              <a:alpha val="3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48" y="384048"/>
            <a:ext cx="329184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9536" y="384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Mặt trời hôm nay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 một ngày mai xanh hơn</a:t>
            </a:r>
            <a:endParaRPr lang="en-US" sz="1030" dirty="0"/>
          </a:p>
        </p:txBody>
      </p:sp>
      <p:sp>
        <p:nvSpPr>
          <p:cNvPr id="11" name="Shape 6"/>
          <p:cNvSpPr/>
          <p:nvPr/>
        </p:nvSpPr>
        <p:spPr>
          <a:xfrm>
            <a:off x="2505456" y="548640"/>
            <a:ext cx="914400" cy="0"/>
          </a:xfrm>
          <a:prstGeom prst="line">
            <a:avLst/>
          </a:prstGeom>
          <a:noFill/>
          <a:ln w="8890">
            <a:solidFill>
              <a:srgbClr val="345E3D">
                <a:alpha val="75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 rot="21000000">
            <a:off x="10716768" y="3474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45E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Năng lượng sạch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345E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Cuộc sống tốt đẹp hơn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11292840" y="822960"/>
            <a:ext cx="274320" cy="-36576"/>
          </a:xfrm>
          <a:prstGeom prst="line">
            <a:avLst/>
          </a:prstGeom>
          <a:noFill/>
          <a:ln w="7620">
            <a:solidFill>
              <a:srgbClr val="345E3D">
                <a:alpha val="65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 rot="21120000">
            <a:off x="411480" y="62727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FFFFFF">
                    <a:alpha val="92000"/>
                  </a:srgbClr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Vì những mái nhà xanh</a:t>
            </a:r>
            <a:endParaRPr lang="en-US" sz="880" dirty="0"/>
          </a:p>
          <a:p>
            <a:pPr indent="0" marL="0">
              <a:buNone/>
            </a:pPr>
            <a:r>
              <a:rPr lang="en-US" sz="880" i="1" dirty="0">
                <a:solidFill>
                  <a:srgbClr val="FFFFFF">
                    <a:alpha val="92000"/>
                  </a:srgbClr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Vì một hành tinh bền vững</a:t>
            </a:r>
            <a:endParaRPr lang="en-US" sz="880" dirty="0"/>
          </a:p>
        </p:txBody>
      </p:sp>
      <p:sp>
        <p:nvSpPr>
          <p:cNvPr id="15" name="Text 10"/>
          <p:cNvSpPr/>
          <p:nvPr/>
        </p:nvSpPr>
        <p:spPr>
          <a:xfrm rot="20820000">
            <a:off x="10469880" y="31272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345E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Tối ưu hôm nay</a:t>
            </a:r>
            <a:endParaRPr lang="en-US" sz="930" dirty="0"/>
          </a:p>
          <a:p>
            <a:pPr algn="ctr" indent="0" marL="0">
              <a:buNone/>
            </a:pPr>
            <a:r>
              <a:rPr lang="en-US" sz="930" i="1" dirty="0">
                <a:solidFill>
                  <a:srgbClr val="345E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Cho ngày mai bền vững</a:t>
            </a:r>
            <a:endParaRPr lang="en-US" sz="930" dirty="0"/>
          </a:p>
        </p:txBody>
      </p:sp>
      <p:sp>
        <p:nvSpPr>
          <p:cNvPr id="16" name="Text 11"/>
          <p:cNvSpPr/>
          <p:nvPr/>
        </p:nvSpPr>
        <p:spPr>
          <a:xfrm>
            <a:off x="457200" y="1371600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b="1" dirty="0">
                <a:solidFill>
                  <a:srgbClr val="173D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</a:t>
            </a:r>
            <a:endParaRPr lang="en-US" sz="6200" dirty="0"/>
          </a:p>
        </p:txBody>
      </p:sp>
      <p:sp>
        <p:nvSpPr>
          <p:cNvPr id="17" name="Shape 12"/>
          <p:cNvSpPr/>
          <p:nvPr/>
        </p:nvSpPr>
        <p:spPr>
          <a:xfrm>
            <a:off x="2752344" y="1399032"/>
            <a:ext cx="768096" cy="768096"/>
          </a:xfrm>
          <a:prstGeom prst="ellipse">
            <a:avLst/>
          </a:prstGeom>
          <a:solidFill>
            <a:srgbClr val="F0A329"/>
          </a:solidFill>
          <a:ln w="12700">
            <a:solidFill>
              <a:srgbClr val="F0A329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672394" y="1614199"/>
            <a:ext cx="-171851" cy="-62549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4"/>
          <p:cNvSpPr/>
          <p:nvPr/>
        </p:nvSpPr>
        <p:spPr>
          <a:xfrm>
            <a:off x="2787240" y="1433928"/>
            <a:ext cx="-129316" cy="-129316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5"/>
          <p:cNvSpPr/>
          <p:nvPr/>
        </p:nvSpPr>
        <p:spPr>
          <a:xfrm>
            <a:off x="2967511" y="1319082"/>
            <a:ext cx="-62549" cy="-171851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6"/>
          <p:cNvSpPr/>
          <p:nvPr/>
        </p:nvSpPr>
        <p:spPr>
          <a:xfrm>
            <a:off x="3136392" y="1289304"/>
            <a:ext cx="0" cy="-182880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17"/>
          <p:cNvSpPr/>
          <p:nvPr/>
        </p:nvSpPr>
        <p:spPr>
          <a:xfrm>
            <a:off x="3305273" y="1319082"/>
            <a:ext cx="62549" cy="-171851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18"/>
          <p:cNvSpPr/>
          <p:nvPr/>
        </p:nvSpPr>
        <p:spPr>
          <a:xfrm>
            <a:off x="3485544" y="1433928"/>
            <a:ext cx="129316" cy="-129316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19"/>
          <p:cNvSpPr/>
          <p:nvPr/>
        </p:nvSpPr>
        <p:spPr>
          <a:xfrm>
            <a:off x="3600390" y="1614199"/>
            <a:ext cx="171851" cy="-62549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0"/>
          <p:cNvSpPr/>
          <p:nvPr/>
        </p:nvSpPr>
        <p:spPr>
          <a:xfrm>
            <a:off x="2935224" y="1581912"/>
            <a:ext cx="402336" cy="402336"/>
          </a:xfrm>
          <a:prstGeom prst="ellipse">
            <a:avLst/>
          </a:prstGeom>
          <a:solidFill>
            <a:srgbClr val="F2F7E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529584" y="137160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b="1" dirty="0">
                <a:solidFill>
                  <a:srgbClr val="173D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pt</a:t>
            </a:r>
            <a:endParaRPr lang="en-US" sz="6200" dirty="0"/>
          </a:p>
        </p:txBody>
      </p:sp>
      <p:sp>
        <p:nvSpPr>
          <p:cNvPr id="27" name="Text 22"/>
          <p:cNvSpPr/>
          <p:nvPr/>
        </p:nvSpPr>
        <p:spPr>
          <a:xfrm>
            <a:off x="457200" y="26334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D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Nền tảng AI tối ưu điện mặt trời mái nhà</a:t>
            </a:r>
            <a:endParaRPr lang="en-US" sz="2300" dirty="0"/>
          </a:p>
        </p:txBody>
      </p:sp>
      <p:sp>
        <p:nvSpPr>
          <p:cNvPr id="28" name="Text 23"/>
          <p:cNvSpPr/>
          <p:nvPr/>
        </p:nvSpPr>
        <p:spPr>
          <a:xfrm>
            <a:off x="457200" y="3172968"/>
            <a:ext cx="5138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dữ liệu mái nhà đến phương án lắp đặt tối ưu,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 thể giải thích và tự thích ứng khi dự án thay đổi.</a:t>
            </a:r>
            <a:endParaRPr lang="en-US" sz="1620" dirty="0"/>
          </a:p>
        </p:txBody>
      </p:sp>
      <p:sp>
        <p:nvSpPr>
          <p:cNvPr id="29" name="Shape 24"/>
          <p:cNvSpPr/>
          <p:nvPr/>
        </p:nvSpPr>
        <p:spPr>
          <a:xfrm>
            <a:off x="457200" y="4005072"/>
            <a:ext cx="2267712" cy="475488"/>
          </a:xfrm>
          <a:prstGeom prst="roundRect">
            <a:avLst>
              <a:gd name="adj" fmla="val 34615"/>
            </a:avLst>
          </a:prstGeom>
          <a:solidFill>
            <a:srgbClr val="E8F1E4">
              <a:alpha val="9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656" y="4114800"/>
            <a:ext cx="256032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97280" y="41148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345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GenD Arena 2026</a:t>
            </a:r>
            <a:endParaRPr lang="en-US" sz="1450" dirty="0"/>
          </a:p>
        </p:txBody>
      </p:sp>
      <p:sp>
        <p:nvSpPr>
          <p:cNvPr id="32" name="Shape 26"/>
          <p:cNvSpPr/>
          <p:nvPr/>
        </p:nvSpPr>
        <p:spPr>
          <a:xfrm>
            <a:off x="2907792" y="4050792"/>
            <a:ext cx="0" cy="393192"/>
          </a:xfrm>
          <a:prstGeom prst="line">
            <a:avLst/>
          </a:prstGeom>
          <a:noFill/>
          <a:ln w="12700">
            <a:solidFill>
              <a:srgbClr val="A5B6A5">
                <a:alpha val="45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127248" y="4005072"/>
            <a:ext cx="2487168" cy="475488"/>
          </a:xfrm>
          <a:prstGeom prst="roundRect">
            <a:avLst>
              <a:gd name="adj" fmla="val 34615"/>
            </a:avLst>
          </a:prstGeom>
          <a:solidFill>
            <a:srgbClr val="E8F1E4">
              <a:alpha val="9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37560" y="4105656"/>
            <a:ext cx="283464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703320" y="4114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Chủ đề 5: Môi trường</a:t>
            </a:r>
            <a:endParaRPr lang="en-US" sz="1450" dirty="0"/>
          </a:p>
        </p:txBody>
      </p:sp>
      <p:sp>
        <p:nvSpPr>
          <p:cNvPr id="36" name="Shape 29"/>
          <p:cNvSpPr/>
          <p:nvPr/>
        </p:nvSpPr>
        <p:spPr>
          <a:xfrm>
            <a:off x="5934456" y="978408"/>
            <a:ext cx="3520440" cy="1993392"/>
          </a:xfrm>
          <a:prstGeom prst="roundRect">
            <a:avLst>
              <a:gd name="adj" fmla="val 4587"/>
            </a:avLst>
          </a:prstGeom>
          <a:solidFill>
            <a:srgbClr val="2B4A35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897880" y="932688"/>
            <a:ext cx="3520440" cy="1993392"/>
          </a:xfrm>
          <a:prstGeom prst="roundRect">
            <a:avLst>
              <a:gd name="adj" fmla="val 4587"/>
            </a:avLst>
          </a:prstGeom>
          <a:solidFill>
            <a:srgbClr val="FFFFFF">
              <a:alpha val="78000"/>
            </a:srgbClr>
          </a:solidFill>
          <a:ln w="15240">
            <a:solidFill>
              <a:srgbClr val="FFFFFF">
                <a:alpha val="78000"/>
              </a:srgbClr>
            </a:solidFill>
            <a:prstDash val="solid"/>
          </a:ln>
        </p:spPr>
      </p:sp>
      <p:pic>
        <p:nvPicPr>
          <p:cNvPr id="38" name="Image 5" descr="/mnt/data/overhead_roo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5896" y="1078992"/>
            <a:ext cx="2139696" cy="155448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6053328" y="1207008"/>
            <a:ext cx="1225296" cy="283464"/>
          </a:xfrm>
          <a:prstGeom prst="roundRect">
            <a:avLst>
              <a:gd name="adj" fmla="val 2580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144768" y="1280160"/>
            <a:ext cx="146304" cy="146304"/>
          </a:xfrm>
          <a:prstGeom prst="roundRect">
            <a:avLst>
              <a:gd name="adj" fmla="val 21875"/>
            </a:avLst>
          </a:prstGeom>
          <a:solidFill>
            <a:srgbClr val="6AA26A"/>
          </a:solidFill>
          <a:ln w="12700">
            <a:solidFill>
              <a:srgbClr val="6AA26A">
                <a:alpha val="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184270" y="1360627"/>
            <a:ext cx="24872" cy="24872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34"/>
          <p:cNvSpPr/>
          <p:nvPr/>
        </p:nvSpPr>
        <p:spPr>
          <a:xfrm>
            <a:off x="6206216" y="1385499"/>
            <a:ext cx="52669" cy="-61448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3" name="Text 35"/>
          <p:cNvSpPr/>
          <p:nvPr/>
        </p:nvSpPr>
        <p:spPr>
          <a:xfrm>
            <a:off x="6345936" y="126187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Phân tích mái nhà</a:t>
            </a:r>
            <a:endParaRPr lang="en-US" sz="720" dirty="0"/>
          </a:p>
        </p:txBody>
      </p:sp>
      <p:sp>
        <p:nvSpPr>
          <p:cNvPr id="44" name="Shape 36"/>
          <p:cNvSpPr/>
          <p:nvPr/>
        </p:nvSpPr>
        <p:spPr>
          <a:xfrm>
            <a:off x="8339328" y="1472184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74A36C"/>
          </a:solidFill>
          <a:ln w="12700">
            <a:solidFill>
              <a:srgbClr val="74A36C">
                <a:alpha val="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8373892" y="1542593"/>
            <a:ext cx="21763" cy="21763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6" name="Shape 38"/>
          <p:cNvSpPr/>
          <p:nvPr/>
        </p:nvSpPr>
        <p:spPr>
          <a:xfrm>
            <a:off x="8393095" y="1564356"/>
            <a:ext cx="46086" cy="-53767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7" name="Text 39"/>
          <p:cNvSpPr/>
          <p:nvPr/>
        </p:nvSpPr>
        <p:spPr>
          <a:xfrm>
            <a:off x="8540496" y="1463040"/>
            <a:ext cx="7498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Nhận diện bề mặt</a:t>
            </a:r>
            <a:endParaRPr lang="en-US" sz="700" dirty="0"/>
          </a:p>
        </p:txBody>
      </p:sp>
      <p:sp>
        <p:nvSpPr>
          <p:cNvPr id="48" name="Shape 40"/>
          <p:cNvSpPr/>
          <p:nvPr/>
        </p:nvSpPr>
        <p:spPr>
          <a:xfrm>
            <a:off x="8339328" y="1792224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74A36C"/>
          </a:solidFill>
          <a:ln w="12700">
            <a:solidFill>
              <a:srgbClr val="74A36C">
                <a:alpha val="0"/>
              </a:srgbClr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8373892" y="1862633"/>
            <a:ext cx="21763" cy="21763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0" name="Shape 42"/>
          <p:cNvSpPr/>
          <p:nvPr/>
        </p:nvSpPr>
        <p:spPr>
          <a:xfrm>
            <a:off x="8393095" y="1884396"/>
            <a:ext cx="46086" cy="-53767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1" name="Text 43"/>
          <p:cNvSpPr/>
          <p:nvPr/>
        </p:nvSpPr>
        <p:spPr>
          <a:xfrm>
            <a:off x="8540496" y="1783080"/>
            <a:ext cx="7498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tích bóng đổ</a:t>
            </a:r>
            <a:endParaRPr lang="en-US" sz="700" dirty="0"/>
          </a:p>
        </p:txBody>
      </p:sp>
      <p:sp>
        <p:nvSpPr>
          <p:cNvPr id="52" name="Shape 44"/>
          <p:cNvSpPr/>
          <p:nvPr/>
        </p:nvSpPr>
        <p:spPr>
          <a:xfrm>
            <a:off x="8339328" y="2112264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74A36C"/>
          </a:solidFill>
          <a:ln w="12700">
            <a:solidFill>
              <a:srgbClr val="74A36C">
                <a:alpha val="0"/>
              </a:srgbClr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8373892" y="2182673"/>
            <a:ext cx="21763" cy="21763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4" name="Shape 46"/>
          <p:cNvSpPr/>
          <p:nvPr/>
        </p:nvSpPr>
        <p:spPr>
          <a:xfrm>
            <a:off x="8393095" y="2204436"/>
            <a:ext cx="46086" cy="-53767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5" name="Text 47"/>
          <p:cNvSpPr/>
          <p:nvPr/>
        </p:nvSpPr>
        <p:spPr>
          <a:xfrm>
            <a:off x="8540496" y="2103120"/>
            <a:ext cx="7498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Tối ưu bố trí tấm pin</a:t>
            </a:r>
            <a:endParaRPr lang="en-US" sz="700" dirty="0"/>
          </a:p>
        </p:txBody>
      </p:sp>
      <p:sp>
        <p:nvSpPr>
          <p:cNvPr id="56" name="Shape 48"/>
          <p:cNvSpPr/>
          <p:nvPr/>
        </p:nvSpPr>
        <p:spPr>
          <a:xfrm>
            <a:off x="8339328" y="2432304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74A36C"/>
          </a:solidFill>
          <a:ln w="12700">
            <a:solidFill>
              <a:srgbClr val="74A36C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8373892" y="2502713"/>
            <a:ext cx="21763" cy="21763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8" name="Shape 50"/>
          <p:cNvSpPr/>
          <p:nvPr/>
        </p:nvSpPr>
        <p:spPr>
          <a:xfrm>
            <a:off x="8393095" y="2524476"/>
            <a:ext cx="46086" cy="-53767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9" name="Text 51"/>
          <p:cNvSpPr/>
          <p:nvPr/>
        </p:nvSpPr>
        <p:spPr>
          <a:xfrm>
            <a:off x="8540496" y="2423160"/>
            <a:ext cx="74980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sản lượng</a:t>
            </a:r>
            <a:endParaRPr lang="en-US" sz="700" dirty="0"/>
          </a:p>
        </p:txBody>
      </p:sp>
      <p:sp>
        <p:nvSpPr>
          <p:cNvPr id="60" name="Shape 52"/>
          <p:cNvSpPr/>
          <p:nvPr/>
        </p:nvSpPr>
        <p:spPr>
          <a:xfrm>
            <a:off x="6309360" y="2679192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2B4A35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6272784" y="2633472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88000"/>
            </a:srgbClr>
          </a:solidFill>
          <a:ln w="1524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6428232" y="2852928"/>
            <a:ext cx="109728" cy="109728"/>
          </a:xfrm>
          <a:prstGeom prst="roundRect">
            <a:avLst>
              <a:gd name="adj" fmla="val 29167"/>
            </a:avLst>
          </a:prstGeom>
          <a:solidFill>
            <a:srgbClr val="7AB077"/>
          </a:solidFill>
          <a:ln w="12700">
            <a:solidFill>
              <a:srgbClr val="7AB077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6457859" y="2913278"/>
            <a:ext cx="18654" cy="18654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56"/>
          <p:cNvSpPr/>
          <p:nvPr/>
        </p:nvSpPr>
        <p:spPr>
          <a:xfrm>
            <a:off x="6474318" y="2931932"/>
            <a:ext cx="39502" cy="-46086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Text 57"/>
          <p:cNvSpPr/>
          <p:nvPr/>
        </p:nvSpPr>
        <p:spPr>
          <a:xfrm>
            <a:off x="6601968" y="283464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Phương án tối ưu</a:t>
            </a:r>
            <a:endParaRPr lang="en-US" sz="720" dirty="0"/>
          </a:p>
        </p:txBody>
      </p:sp>
      <p:sp>
        <p:nvSpPr>
          <p:cNvPr id="66" name="Shape 58"/>
          <p:cNvSpPr/>
          <p:nvPr/>
        </p:nvSpPr>
        <p:spPr>
          <a:xfrm>
            <a:off x="6446520" y="3474720"/>
            <a:ext cx="109728" cy="320040"/>
          </a:xfrm>
          <a:prstGeom prst="rect">
            <a:avLst/>
          </a:prstGeom>
          <a:solidFill>
            <a:srgbClr val="A3C89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6620256" y="3291840"/>
            <a:ext cx="109728" cy="502920"/>
          </a:xfrm>
          <a:prstGeom prst="rect">
            <a:avLst/>
          </a:prstGeom>
          <a:solidFill>
            <a:srgbClr val="A3C89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6793992" y="3108960"/>
            <a:ext cx="109728" cy="685800"/>
          </a:xfrm>
          <a:prstGeom prst="rect">
            <a:avLst/>
          </a:prstGeom>
          <a:solidFill>
            <a:srgbClr val="A3C89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6967728" y="2926080"/>
            <a:ext cx="109728" cy="868680"/>
          </a:xfrm>
          <a:prstGeom prst="rect">
            <a:avLst/>
          </a:prstGeom>
          <a:solidFill>
            <a:srgbClr val="A3C89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7141464" y="2743200"/>
            <a:ext cx="109728" cy="1051560"/>
          </a:xfrm>
          <a:prstGeom prst="rect">
            <a:avLst/>
          </a:prstGeom>
          <a:solidFill>
            <a:srgbClr val="A3C89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7479792" y="313639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F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Sản lượng ước tính</a:t>
            </a:r>
            <a:endParaRPr lang="en-US" sz="700" dirty="0"/>
          </a:p>
        </p:txBody>
      </p:sp>
      <p:sp>
        <p:nvSpPr>
          <p:cNvPr id="72" name="Text 64"/>
          <p:cNvSpPr/>
          <p:nvPr/>
        </p:nvSpPr>
        <p:spPr>
          <a:xfrm>
            <a:off x="7479792" y="327355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5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12,380</a:t>
            </a:r>
            <a:endParaRPr lang="en-US" sz="1400" dirty="0"/>
          </a:p>
        </p:txBody>
      </p:sp>
      <p:sp>
        <p:nvSpPr>
          <p:cNvPr id="73" name="Text 65"/>
          <p:cNvSpPr/>
          <p:nvPr/>
        </p:nvSpPr>
        <p:spPr>
          <a:xfrm>
            <a:off x="8055864" y="331012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kWh/năm</a:t>
            </a:r>
            <a:endParaRPr lang="en-US" sz="850" dirty="0"/>
          </a:p>
        </p:txBody>
      </p:sp>
      <p:sp>
        <p:nvSpPr>
          <p:cNvPr id="74" name="Text 66"/>
          <p:cNvSpPr/>
          <p:nvPr/>
        </p:nvSpPr>
        <p:spPr>
          <a:xfrm>
            <a:off x="7479792" y="3602736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F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Giảm phát thải CO₂</a:t>
            </a:r>
            <a:endParaRPr lang="en-US" sz="700" dirty="0"/>
          </a:p>
        </p:txBody>
      </p:sp>
      <p:sp>
        <p:nvSpPr>
          <p:cNvPr id="75" name="Text 67"/>
          <p:cNvSpPr/>
          <p:nvPr/>
        </p:nvSpPr>
        <p:spPr>
          <a:xfrm>
            <a:off x="7479792" y="3749040"/>
            <a:ext cx="429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45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 6.2</a:t>
            </a:r>
            <a:endParaRPr lang="en-US" sz="1200" dirty="0"/>
          </a:p>
        </p:txBody>
      </p:sp>
      <p:sp>
        <p:nvSpPr>
          <p:cNvPr id="76" name="Text 68"/>
          <p:cNvSpPr/>
          <p:nvPr/>
        </p:nvSpPr>
        <p:spPr>
          <a:xfrm>
            <a:off x="7909560" y="3785616"/>
            <a:ext cx="411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tấn/năm</a:t>
            </a:r>
            <a:endParaRPr lang="en-US" sz="800" dirty="0"/>
          </a:p>
        </p:txBody>
      </p:sp>
      <p:sp>
        <p:nvSpPr>
          <p:cNvPr id="77" name="Shape 69"/>
          <p:cNvSpPr/>
          <p:nvPr/>
        </p:nvSpPr>
        <p:spPr>
          <a:xfrm>
            <a:off x="6437376" y="3977640"/>
            <a:ext cx="2029968" cy="0"/>
          </a:xfrm>
          <a:prstGeom prst="line">
            <a:avLst/>
          </a:prstGeom>
          <a:noFill/>
          <a:ln w="10160">
            <a:solidFill>
              <a:srgbClr val="E7EDE5"/>
            </a:solidFill>
            <a:prstDash val="solid"/>
          </a:ln>
        </p:spPr>
      </p:sp>
      <p:pic>
        <p:nvPicPr>
          <p:cNvPr id="78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7376" y="4069080"/>
            <a:ext cx="164592" cy="146304"/>
          </a:xfrm>
          <a:prstGeom prst="rect">
            <a:avLst/>
          </a:prstGeom>
        </p:spPr>
      </p:pic>
      <p:sp>
        <p:nvSpPr>
          <p:cNvPr id="79" name="Text 70"/>
          <p:cNvSpPr/>
          <p:nvPr/>
        </p:nvSpPr>
        <p:spPr>
          <a:xfrm>
            <a:off x="6711696" y="407822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F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Hiệu quả. Minh bạch. Có thể giải thích.</a:t>
            </a:r>
            <a:endParaRPr lang="en-US" sz="700" dirty="0"/>
          </a:p>
        </p:txBody>
      </p:sp>
      <p:sp>
        <p:nvSpPr>
          <p:cNvPr id="80" name="Text 71"/>
          <p:cNvSpPr/>
          <p:nvPr/>
        </p:nvSpPr>
        <p:spPr>
          <a:xfrm>
            <a:off x="10643616" y="11521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Trưa</a:t>
            </a:r>
            <a:endParaRPr lang="en-US" sz="820" dirty="0"/>
          </a:p>
        </p:txBody>
      </p:sp>
      <p:sp>
        <p:nvSpPr>
          <p:cNvPr id="81" name="Text 72"/>
          <p:cNvSpPr/>
          <p:nvPr/>
        </p:nvSpPr>
        <p:spPr>
          <a:xfrm>
            <a:off x="10296144" y="132588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F7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(Tối ưu sản lượng)</a:t>
            </a:r>
            <a:endParaRPr lang="en-US" sz="700" dirty="0"/>
          </a:p>
        </p:txBody>
      </p:sp>
      <p:sp>
        <p:nvSpPr>
          <p:cNvPr id="82" name="Shape 73"/>
          <p:cNvSpPr/>
          <p:nvPr/>
        </p:nvSpPr>
        <p:spPr>
          <a:xfrm>
            <a:off x="9710337" y="2198014"/>
            <a:ext cx="35106" cy="-81069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83" name="Shape 74"/>
          <p:cNvSpPr/>
          <p:nvPr/>
        </p:nvSpPr>
        <p:spPr>
          <a:xfrm>
            <a:off x="9778765" y="2054391"/>
            <a:ext cx="47932" cy="-74818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84" name="Shape 75"/>
          <p:cNvSpPr/>
          <p:nvPr/>
        </p:nvSpPr>
        <p:spPr>
          <a:xfrm>
            <a:off x="9869839" y="1922775"/>
            <a:ext cx="59578" cy="-66724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85" name="Shape 76"/>
          <p:cNvSpPr/>
          <p:nvPr/>
        </p:nvSpPr>
        <p:spPr>
          <a:xfrm>
            <a:off x="9981318" y="1806407"/>
            <a:ext cx="69757" cy="-56988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86" name="Shape 77"/>
          <p:cNvSpPr/>
          <p:nvPr/>
        </p:nvSpPr>
        <p:spPr>
          <a:xfrm>
            <a:off x="10110455" y="1708153"/>
            <a:ext cx="78218" cy="-45848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87" name="Shape 78"/>
          <p:cNvSpPr/>
          <p:nvPr/>
        </p:nvSpPr>
        <p:spPr>
          <a:xfrm>
            <a:off x="10254072" y="1630431"/>
            <a:ext cx="84754" cy="-33580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88" name="Shape 79"/>
          <p:cNvSpPr/>
          <p:nvPr/>
        </p:nvSpPr>
        <p:spPr>
          <a:xfrm>
            <a:off x="10408631" y="1575157"/>
            <a:ext cx="89202" cy="-20484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89" name="Shape 80"/>
          <p:cNvSpPr/>
          <p:nvPr/>
        </p:nvSpPr>
        <p:spPr>
          <a:xfrm>
            <a:off x="10570327" y="1543689"/>
            <a:ext cx="91454" cy="-6885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0" name="Shape 81"/>
          <p:cNvSpPr/>
          <p:nvPr/>
        </p:nvSpPr>
        <p:spPr>
          <a:xfrm>
            <a:off x="10735179" y="1536805"/>
            <a:ext cx="91454" cy="6885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1" name="Shape 82"/>
          <p:cNvSpPr/>
          <p:nvPr/>
        </p:nvSpPr>
        <p:spPr>
          <a:xfrm>
            <a:off x="10899127" y="1554672"/>
            <a:ext cx="89202" cy="20484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2" name="Shape 83"/>
          <p:cNvSpPr/>
          <p:nvPr/>
        </p:nvSpPr>
        <p:spPr>
          <a:xfrm>
            <a:off x="11058135" y="1596852"/>
            <a:ext cx="84754" cy="33580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3" name="Shape 84"/>
          <p:cNvSpPr/>
          <p:nvPr/>
        </p:nvSpPr>
        <p:spPr>
          <a:xfrm>
            <a:off x="11208286" y="1662305"/>
            <a:ext cx="78218" cy="45848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4" name="Shape 85"/>
          <p:cNvSpPr/>
          <p:nvPr/>
        </p:nvSpPr>
        <p:spPr>
          <a:xfrm>
            <a:off x="11345885" y="1749419"/>
            <a:ext cx="69757" cy="56988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5" name="Shape 86"/>
          <p:cNvSpPr/>
          <p:nvPr/>
        </p:nvSpPr>
        <p:spPr>
          <a:xfrm>
            <a:off x="11467542" y="1856051"/>
            <a:ext cx="59578" cy="66724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6" name="Shape 87"/>
          <p:cNvSpPr/>
          <p:nvPr/>
        </p:nvSpPr>
        <p:spPr>
          <a:xfrm>
            <a:off x="11570263" y="1979573"/>
            <a:ext cx="47932" cy="74818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7" name="Shape 88"/>
          <p:cNvSpPr/>
          <p:nvPr/>
        </p:nvSpPr>
        <p:spPr>
          <a:xfrm>
            <a:off x="11651517" y="2116946"/>
            <a:ext cx="35106" cy="81069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8" name="Shape 89"/>
          <p:cNvSpPr/>
          <p:nvPr/>
        </p:nvSpPr>
        <p:spPr>
          <a:xfrm>
            <a:off x="11709304" y="2264785"/>
            <a:ext cx="21416" cy="85324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99" name="Shape 90"/>
          <p:cNvSpPr/>
          <p:nvPr/>
        </p:nvSpPr>
        <p:spPr>
          <a:xfrm>
            <a:off x="11742202" y="2419451"/>
            <a:ext cx="7198" cy="87478"/>
          </a:xfrm>
          <a:prstGeom prst="line">
            <a:avLst/>
          </a:prstGeom>
          <a:noFill/>
          <a:ln w="12700">
            <a:solidFill>
              <a:srgbClr val="F0A329">
                <a:alpha val="88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0" name="Shape 91"/>
          <p:cNvSpPr/>
          <p:nvPr/>
        </p:nvSpPr>
        <p:spPr>
          <a:xfrm>
            <a:off x="9692640" y="2212848"/>
            <a:ext cx="182880" cy="182880"/>
          </a:xfrm>
          <a:prstGeom prst="ellipse">
            <a:avLst/>
          </a:prstGeom>
          <a:solidFill>
            <a:srgbClr val="F0A329"/>
          </a:solidFill>
          <a:ln w="12700">
            <a:solidFill>
              <a:srgbClr val="F0A329">
                <a:alpha val="0"/>
              </a:srgbClr>
            </a:solidFill>
            <a:prstDash val="solid"/>
          </a:ln>
        </p:spPr>
      </p:sp>
      <p:sp>
        <p:nvSpPr>
          <p:cNvPr id="101" name="Shape 92"/>
          <p:cNvSpPr/>
          <p:nvPr/>
        </p:nvSpPr>
        <p:spPr>
          <a:xfrm>
            <a:off x="10543032" y="1536192"/>
            <a:ext cx="256032" cy="256032"/>
          </a:xfrm>
          <a:prstGeom prst="ellipse">
            <a:avLst/>
          </a:prstGeom>
          <a:solidFill>
            <a:srgbClr val="F0A329"/>
          </a:solidFill>
          <a:ln w="12700">
            <a:solidFill>
              <a:srgbClr val="F0A329">
                <a:alpha val="0"/>
              </a:srgbClr>
            </a:solidFill>
            <a:prstDash val="solid"/>
          </a:ln>
        </p:spPr>
      </p:sp>
      <p:sp>
        <p:nvSpPr>
          <p:cNvPr id="102" name="Shape 93"/>
          <p:cNvSpPr/>
          <p:nvPr/>
        </p:nvSpPr>
        <p:spPr>
          <a:xfrm>
            <a:off x="10447642" y="1582895"/>
            <a:ext cx="-171851" cy="-62549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3" name="Shape 94"/>
          <p:cNvSpPr/>
          <p:nvPr/>
        </p:nvSpPr>
        <p:spPr>
          <a:xfrm>
            <a:off x="10502938" y="1496098"/>
            <a:ext cx="-129316" cy="-129316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" name="Shape 95"/>
          <p:cNvSpPr/>
          <p:nvPr/>
        </p:nvSpPr>
        <p:spPr>
          <a:xfrm>
            <a:off x="10589735" y="1440802"/>
            <a:ext cx="-62549" cy="-171851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5" name="Shape 96"/>
          <p:cNvSpPr/>
          <p:nvPr/>
        </p:nvSpPr>
        <p:spPr>
          <a:xfrm>
            <a:off x="10671048" y="1426464"/>
            <a:ext cx="0" cy="-182880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6" name="Shape 97"/>
          <p:cNvSpPr/>
          <p:nvPr/>
        </p:nvSpPr>
        <p:spPr>
          <a:xfrm>
            <a:off x="10752361" y="1440802"/>
            <a:ext cx="62549" cy="-171851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7" name="Shape 98"/>
          <p:cNvSpPr/>
          <p:nvPr/>
        </p:nvSpPr>
        <p:spPr>
          <a:xfrm>
            <a:off x="10839158" y="1496098"/>
            <a:ext cx="129316" cy="-129316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8" name="Shape 99"/>
          <p:cNvSpPr/>
          <p:nvPr/>
        </p:nvSpPr>
        <p:spPr>
          <a:xfrm>
            <a:off x="10894454" y="1582895"/>
            <a:ext cx="171851" cy="-62549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9" name="Shape 100"/>
          <p:cNvSpPr/>
          <p:nvPr/>
        </p:nvSpPr>
        <p:spPr>
          <a:xfrm>
            <a:off x="11393424" y="2377440"/>
            <a:ext cx="219456" cy="219456"/>
          </a:xfrm>
          <a:prstGeom prst="ellipse">
            <a:avLst/>
          </a:prstGeom>
          <a:solidFill>
            <a:srgbClr val="F0A329"/>
          </a:solidFill>
          <a:ln w="12700">
            <a:solidFill>
              <a:srgbClr val="F0A329">
                <a:alpha val="0"/>
              </a:srgbClr>
            </a:solidFill>
            <a:prstDash val="solid"/>
          </a:ln>
        </p:spPr>
      </p:sp>
      <p:sp>
        <p:nvSpPr>
          <p:cNvPr id="110" name="Shape 101"/>
          <p:cNvSpPr/>
          <p:nvPr/>
        </p:nvSpPr>
        <p:spPr>
          <a:xfrm>
            <a:off x="11296931" y="2412110"/>
            <a:ext cx="-171851" cy="-62549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1" name="Shape 102"/>
          <p:cNvSpPr/>
          <p:nvPr/>
        </p:nvSpPr>
        <p:spPr>
          <a:xfrm>
            <a:off x="11347973" y="2331989"/>
            <a:ext cx="-129316" cy="-129316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2" name="Shape 103"/>
          <p:cNvSpPr/>
          <p:nvPr/>
        </p:nvSpPr>
        <p:spPr>
          <a:xfrm>
            <a:off x="11428094" y="2280947"/>
            <a:ext cx="-62549" cy="-171851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3" name="Shape 104"/>
          <p:cNvSpPr/>
          <p:nvPr/>
        </p:nvSpPr>
        <p:spPr>
          <a:xfrm>
            <a:off x="11503152" y="2267712"/>
            <a:ext cx="0" cy="-182880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4" name="Shape 105"/>
          <p:cNvSpPr/>
          <p:nvPr/>
        </p:nvSpPr>
        <p:spPr>
          <a:xfrm>
            <a:off x="11578210" y="2280947"/>
            <a:ext cx="62549" cy="-171851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5" name="Shape 106"/>
          <p:cNvSpPr/>
          <p:nvPr/>
        </p:nvSpPr>
        <p:spPr>
          <a:xfrm>
            <a:off x="11658331" y="2331989"/>
            <a:ext cx="129316" cy="-129316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6" name="Shape 107"/>
          <p:cNvSpPr/>
          <p:nvPr/>
        </p:nvSpPr>
        <p:spPr>
          <a:xfrm>
            <a:off x="11709373" y="2412110"/>
            <a:ext cx="171851" cy="-62549"/>
          </a:xfrm>
          <a:prstGeom prst="line">
            <a:avLst/>
          </a:prstGeom>
          <a:noFill/>
          <a:ln w="50800">
            <a:solidFill>
              <a:srgbClr val="F0A329">
                <a:alpha val="9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7" name="Text 108"/>
          <p:cNvSpPr/>
          <p:nvPr/>
        </p:nvSpPr>
        <p:spPr>
          <a:xfrm>
            <a:off x="9656064" y="25237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Sáng</a:t>
            </a:r>
            <a:endParaRPr lang="en-US" sz="800" dirty="0"/>
          </a:p>
        </p:txBody>
      </p:sp>
      <p:sp>
        <p:nvSpPr>
          <p:cNvPr id="118" name="Text 109"/>
          <p:cNvSpPr/>
          <p:nvPr/>
        </p:nvSpPr>
        <p:spPr>
          <a:xfrm>
            <a:off x="11356848" y="280720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Chiều</a:t>
            </a:r>
            <a:endParaRPr lang="en-US" sz="800" dirty="0"/>
          </a:p>
        </p:txBody>
      </p:sp>
      <p:sp>
        <p:nvSpPr>
          <p:cNvPr id="119" name="Shape 110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7FA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0" name="Text 111"/>
          <p:cNvSpPr/>
          <p:nvPr/>
        </p:nvSpPr>
        <p:spPr>
          <a:xfrm>
            <a:off x="4882896" y="64739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45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thi: Axiom</a:t>
            </a:r>
            <a:endParaRPr lang="en-US" sz="1260" dirty="0"/>
          </a:p>
        </p:txBody>
      </p:sp>
      <p:sp>
        <p:nvSpPr>
          <p:cNvPr id="121" name="Shape 112"/>
          <p:cNvSpPr/>
          <p:nvPr/>
        </p:nvSpPr>
        <p:spPr>
          <a:xfrm>
            <a:off x="11265408" y="6537960"/>
            <a:ext cx="429768" cy="0"/>
          </a:xfrm>
          <a:prstGeom prst="line">
            <a:avLst/>
          </a:prstGeom>
          <a:noFill/>
          <a:ln w="8890">
            <a:solidFill>
              <a:srgbClr val="345E3D">
                <a:alpha val="55000"/>
              </a:srgbClr>
            </a:solidFill>
            <a:prstDash val="solid"/>
          </a:ln>
        </p:spPr>
      </p:sp>
      <p:sp>
        <p:nvSpPr>
          <p:cNvPr id="122" name="Text 113"/>
          <p:cNvSpPr/>
          <p:nvPr/>
        </p:nvSpPr>
        <p:spPr>
          <a:xfrm>
            <a:off x="11759184" y="64739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D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AXIOM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SolarOpt - Slide 1 Layered Rebuild</dc:title>
  <dc:subject>SolarOpt slide 1 rebuilt as editable layers</dc:subject>
  <dc:creator>OpenAI</dc:creator>
  <cp:lastModifiedBy>OpenAI</cp:lastModifiedBy>
  <cp:revision>1</cp:revision>
  <dcterms:created xsi:type="dcterms:W3CDTF">2026-09-20T07:02:17Z</dcterms:created>
  <dcterms:modified xsi:type="dcterms:W3CDTF">2026-09-20T07:02:17Z</dcterms:modified>
</cp:coreProperties>
</file>